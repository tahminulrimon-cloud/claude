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475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137392" y="384048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SYN-3</a:t>
            </a:r>
            <a:endParaRPr lang="en-US" sz="1100"/>
          </a:p>
        </p:txBody>
      </p:sp>
      <p:sp>
        <p:nvSpPr>
          <p:cNvPr id="7" name="Text 4"/>
          <p:cNvSpPr/>
          <p:nvPr/>
        </p:nvSpPr>
        <p:spPr>
          <a:xfrm>
            <a:off x="731519" y="2891711"/>
            <a:ext cx="10728655" cy="866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ENHANCEMENT OF INFORMATION SECURITY AWARENESS AMONG YOUNG OFFICERS OF BANGLADESH ARMY: A KEY TO ORGANISATIONAL RESILIENCE</a:t>
            </a:r>
            <a:endParaRPr lang="en-US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448AB1F5-AE69-4637-26A2-F69A10900A36}"/>
              </a:ext>
            </a:extLst>
          </p:cNvPr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cs typeface="Arial" pitchFamily="34" charset="-120"/>
              </a:rPr>
              <a:t>1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137392" y="384048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SYN-3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219200" y="355600"/>
            <a:ext cx="9753600" cy="660400"/>
          </a:xfrm>
          <a:prstGeom prst="roundRect">
            <a:avLst>
              <a:gd name="adj" fmla="val 11290"/>
            </a:avLst>
          </a:prstGeom>
          <a:solidFill>
            <a:srgbClr val="234E33"/>
          </a:solidFill>
          <a:ln w="12700">
            <a:solidFill>
              <a:srgbClr val="C99A2E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0" y="355600"/>
            <a:ext cx="1219200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88374D-7661-EE3E-0810-F7BBE81087A8}"/>
              </a:ext>
            </a:extLst>
          </p:cNvPr>
          <p:cNvGrpSpPr/>
          <p:nvPr/>
        </p:nvGrpSpPr>
        <p:grpSpPr>
          <a:xfrm>
            <a:off x="787480" y="1422166"/>
            <a:ext cx="10642519" cy="4503146"/>
            <a:chOff x="787481" y="1422166"/>
            <a:chExt cx="6903222" cy="4503146"/>
          </a:xfrm>
        </p:grpSpPr>
        <p:pic>
          <p:nvPicPr>
            <p:cNvPr id="8" name="Image 1" descr="ic_bol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7481" y="1537289"/>
              <a:ext cx="272125" cy="272125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1013886" y="1422166"/>
              <a:ext cx="6676816" cy="106929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2000"/>
                </a:lnSpc>
                <a:buNone/>
              </a:pPr>
              <a:r>
                <a:rPr lang="en-US" sz="2000" b="1" dirty="0">
                  <a:solidFill>
                    <a:srgbClr val="234E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shift.  </a:t>
              </a:r>
              <a:r>
                <a:rPr lang="en-US" sz="2000" dirty="0">
                  <a:solidFill>
                    <a:srgbClr val="20281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Modern warfare has moved into the cyber and information domain, protecting information now carries the weight of firepower.</a:t>
              </a:r>
            </a:p>
            <a:p>
              <a:pPr marL="0" indent="0">
                <a:lnSpc>
                  <a:spcPct val="102000"/>
                </a:lnSpc>
                <a:buNone/>
              </a:pPr>
              <a:endParaRPr lang="en-US" sz="2000" dirty="0">
                <a:solidFill>
                  <a:srgbClr val="20281F"/>
                </a:solidFill>
                <a:latin typeface="Arial" pitchFamily="34" charset="0"/>
                <a:cs typeface="Arial" pitchFamily="34" charset="-120"/>
              </a:endParaRPr>
            </a:p>
            <a:p>
              <a:pPr marL="0" indent="0">
                <a:lnSpc>
                  <a:spcPct val="102000"/>
                </a:lnSpc>
                <a:buNone/>
              </a:pPr>
              <a:endParaRPr lang="en-US" sz="2000" dirty="0"/>
            </a:p>
          </p:txBody>
        </p:sp>
        <p:pic>
          <p:nvPicPr>
            <p:cNvPr id="11" name="Image 2" descr="ic_univ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7481" y="2323673"/>
              <a:ext cx="272125" cy="272125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1013885" y="2689435"/>
              <a:ext cx="6676817" cy="78638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2000"/>
                </a:lnSpc>
                <a:buNone/>
              </a:pPr>
              <a:r>
                <a:rPr lang="en-US" sz="2000" b="1" dirty="0">
                  <a:solidFill>
                    <a:srgbClr val="234E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 context.  </a:t>
              </a:r>
              <a:r>
                <a:rPr lang="en-US" sz="2000" dirty="0">
                  <a:solidFill>
                    <a:srgbClr val="20281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Army depends on disciplined information handling at every node, from cantonment planning conferences to voice traffic on a forward post.</a:t>
              </a:r>
              <a:endParaRPr lang="en-US" sz="2000" dirty="0"/>
            </a:p>
          </p:txBody>
        </p:sp>
        <p:sp>
          <p:nvSpPr>
            <p:cNvPr id="15" name="Text 9"/>
            <p:cNvSpPr/>
            <p:nvPr/>
          </p:nvSpPr>
          <p:spPr>
            <a:xfrm>
              <a:off x="1044700" y="3959353"/>
              <a:ext cx="6631097" cy="106929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2000"/>
                </a:lnSpc>
                <a:buNone/>
              </a:pPr>
              <a:r>
                <a:rPr lang="en-US" sz="2000" b="1" dirty="0">
                  <a:solidFill>
                    <a:srgbClr val="234E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Who are YOs?  </a:t>
              </a:r>
              <a:r>
                <a:rPr lang="en-US" sz="2000" dirty="0">
                  <a:solidFill>
                    <a:srgbClr val="20281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Young Officers (officers with up to seven years’ commissioned service): the most digitally fluent and most tactically active cohort.</a:t>
              </a:r>
              <a:endParaRPr lang="en-US" sz="2000" dirty="0"/>
            </a:p>
          </p:txBody>
        </p:sp>
        <p:sp>
          <p:nvSpPr>
            <p:cNvPr id="18" name="Text 11"/>
            <p:cNvSpPr/>
            <p:nvPr/>
          </p:nvSpPr>
          <p:spPr>
            <a:xfrm>
              <a:off x="1059606" y="5138928"/>
              <a:ext cx="6631097" cy="78638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02000"/>
                </a:lnSpc>
                <a:buNone/>
              </a:pPr>
              <a:r>
                <a:rPr lang="en-US" sz="2000" b="1" dirty="0">
                  <a:solidFill>
                    <a:srgbClr val="234E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Why this cohort.  </a:t>
              </a:r>
              <a:r>
                <a:rPr lang="en-US" sz="2000" dirty="0">
                  <a:solidFill>
                    <a:srgbClr val="20281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Large, mobile, networked a single habit repeated by thousands becomes institutional posture, and the highest aggregate-risk node.</a:t>
              </a:r>
              <a:endParaRPr lang="en-US" sz="2000" dirty="0"/>
            </a:p>
          </p:txBody>
        </p:sp>
      </p:grpSp>
      <p:sp>
        <p:nvSpPr>
          <p:cNvPr id="25" name="Text 18"/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44319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731520" y="355600"/>
            <a:ext cx="10728655" cy="660400"/>
          </a:xfrm>
          <a:prstGeom prst="roundRect">
            <a:avLst>
              <a:gd name="adj" fmla="val 11290"/>
            </a:avLst>
          </a:prstGeom>
          <a:solidFill>
            <a:srgbClr val="234E33"/>
          </a:solidFill>
          <a:ln w="12700">
            <a:solidFill>
              <a:srgbClr val="C99A2E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000" dirty="0"/>
            <a:r>
              <a:t>SYN-3</a:t>
            </a:r>
          </a:p>
        </p:txBody>
      </p:sp>
      <p:sp>
        <p:nvSpPr>
          <p:cNvPr id="6" name="Text 3"/>
          <p:cNvSpPr/>
          <p:nvPr/>
        </p:nvSpPr>
        <p:spPr>
          <a:xfrm>
            <a:off x="0" y="355600"/>
            <a:ext cx="1219200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FOR SELECTION OF THE TOPIC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1298448"/>
            <a:ext cx="10728655" cy="795528"/>
          </a:xfrm>
          <a:prstGeom prst="roundRect">
            <a:avLst>
              <a:gd name="adj" fmla="val 6897"/>
            </a:avLst>
          </a:prstGeom>
          <a:solidFill>
            <a:srgbClr val="FBEEEC"/>
          </a:solidFill>
          <a:ln w="12700">
            <a:solidFill>
              <a:srgbClr val="E3C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69430" y="1298448"/>
            <a:ext cx="10590745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Operational urgency.  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Adversarial tools: scraping, machine translation, social engineering are cheap, widely available, and fast.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731520" y="2240280"/>
            <a:ext cx="10728655" cy="795528"/>
          </a:xfrm>
          <a:prstGeom prst="roundRect">
            <a:avLst>
              <a:gd name="adj" fmla="val 6897"/>
            </a:avLst>
          </a:prstGeom>
          <a:solidFill>
            <a:srgbClr val="EEF3EA"/>
          </a:solidFill>
          <a:ln w="12700">
            <a:solidFill>
              <a:srgbClr val="D3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869430" y="2240280"/>
            <a:ext cx="1056057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Institutional relevance.  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BA literature (Army Journal No. 75, 2024; NDC E-Journal, 2018) names YO digital exposure as the greatest aggregate risk.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731520" y="3182112"/>
            <a:ext cx="10728655" cy="795528"/>
          </a:xfrm>
          <a:prstGeom prst="roundRect">
            <a:avLst>
              <a:gd name="adj" fmla="val 6897"/>
            </a:avLst>
          </a:prstGeom>
          <a:solidFill>
            <a:srgbClr val="EEF3EA"/>
          </a:solidFill>
          <a:ln w="12700">
            <a:solidFill>
              <a:srgbClr val="D3DED0"/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869430" y="3182112"/>
            <a:ext cx="10590745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Professional observation.  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Across multiple unit appointments, ISA is taught as theory but is not drilled into reflex.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731520" y="4123944"/>
            <a:ext cx="10728655" cy="795528"/>
          </a:xfrm>
          <a:prstGeom prst="roundRect">
            <a:avLst>
              <a:gd name="adj" fmla="val 6897"/>
            </a:avLst>
          </a:prstGeom>
          <a:solidFill>
            <a:srgbClr val="EEF3EA"/>
          </a:solidFill>
          <a:ln w="12700">
            <a:solidFill>
              <a:srgbClr val="D3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869430" y="4123944"/>
            <a:ext cx="1056057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Gap in existing work.  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Prior BA studies diagnosed the problem; this paper proposes an actionable, integrated framework, not another diagnostic.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731520" y="5065776"/>
            <a:ext cx="10728655" cy="795528"/>
          </a:xfrm>
          <a:prstGeom prst="roundRect">
            <a:avLst>
              <a:gd name="adj" fmla="val 6897"/>
            </a:avLst>
          </a:prstGeom>
          <a:solidFill>
            <a:srgbClr val="EEF3EA"/>
          </a:solidFill>
          <a:ln w="12700">
            <a:solidFill>
              <a:srgbClr val="D3DED0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869430" y="5065776"/>
            <a:ext cx="1056057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Strategic payoff.  </a:t>
            </a:r>
            <a:r>
              <a:rPr lang="en-US" sz="20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Organisational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 resilience depends on closing this gap before adversarial capability widens it further.</a:t>
            </a:r>
            <a:endParaRPr lang="en-US" sz="2000" dirty="0"/>
          </a:p>
        </p:txBody>
      </p:sp>
      <p:sp>
        <p:nvSpPr>
          <p:cNvPr id="3" name="Text 18">
            <a:extLst>
              <a:ext uri="{FF2B5EF4-FFF2-40B4-BE49-F238E27FC236}">
                <a16:creationId xmlns:a16="http://schemas.microsoft.com/office/drawing/2014/main" id="{784F6C98-797F-2861-B603-A1ED13AAC5C1}"/>
              </a:ext>
            </a:extLst>
          </p:cNvPr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cs typeface="Arial" pitchFamily="34" charset="-120"/>
              </a:rPr>
              <a:t>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44625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137392" y="384048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SYN-3</a:t>
            </a:r>
            <a:endParaRPr lang="en-US" sz="1100"/>
          </a:p>
        </p:txBody>
      </p:sp>
      <p:sp>
        <p:nvSpPr>
          <p:cNvPr id="5" name="Shape 2"/>
          <p:cNvSpPr/>
          <p:nvPr/>
        </p:nvSpPr>
        <p:spPr>
          <a:xfrm>
            <a:off x="563726" y="355600"/>
            <a:ext cx="11064241" cy="660400"/>
          </a:xfrm>
          <a:prstGeom prst="roundRect">
            <a:avLst>
              <a:gd name="adj" fmla="val 11290"/>
            </a:avLst>
          </a:prstGeom>
          <a:solidFill>
            <a:srgbClr val="234E33"/>
          </a:solidFill>
          <a:ln w="12700">
            <a:solidFill>
              <a:srgbClr val="C99A2E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0" y="355600"/>
            <a:ext cx="1219200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63728" y="1371600"/>
            <a:ext cx="3456432" cy="3657600"/>
          </a:xfrm>
          <a:prstGeom prst="roundRect">
            <a:avLst>
              <a:gd name="adj" fmla="val 2381"/>
            </a:avLst>
          </a:prstGeom>
          <a:solidFill>
            <a:srgbClr val="EEF3EA"/>
          </a:solidFill>
          <a:ln w="12700">
            <a:solidFill>
              <a:srgbClr val="D3DED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63728" y="1371600"/>
            <a:ext cx="3456432" cy="868680"/>
          </a:xfrm>
          <a:prstGeom prst="roundRect">
            <a:avLst>
              <a:gd name="adj" fmla="val 9474"/>
            </a:avLst>
          </a:prstGeom>
          <a:solidFill>
            <a:srgbClr val="234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3728" y="1874520"/>
            <a:ext cx="3456432" cy="365760"/>
          </a:xfrm>
          <a:prstGeom prst="rect">
            <a:avLst/>
          </a:prstGeom>
          <a:solidFill>
            <a:srgbClr val="234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3725" y="1463040"/>
            <a:ext cx="3666747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Policy Architecture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38048" y="2450592"/>
            <a:ext cx="304495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 delivered as knowledge, not skill. One-way annual briefings against hundreds of hours on weapons and battle drills.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367632" y="1371600"/>
            <a:ext cx="3456432" cy="3657600"/>
          </a:xfrm>
          <a:prstGeom prst="roundRect">
            <a:avLst>
              <a:gd name="adj" fmla="val 2381"/>
            </a:avLst>
          </a:prstGeom>
          <a:solidFill>
            <a:srgbClr val="EEF3EA"/>
          </a:solidFill>
          <a:ln w="12700">
            <a:solidFill>
              <a:srgbClr val="D3DED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367632" y="1371600"/>
            <a:ext cx="3456432" cy="868680"/>
          </a:xfrm>
          <a:prstGeom prst="roundRect">
            <a:avLst>
              <a:gd name="adj" fmla="val 9474"/>
            </a:avLst>
          </a:prstGeom>
          <a:solidFill>
            <a:srgbClr val="234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367632" y="1874520"/>
            <a:ext cx="3456432" cy="365760"/>
          </a:xfrm>
          <a:prstGeom prst="rect">
            <a:avLst/>
          </a:prstGeom>
          <a:solidFill>
            <a:srgbClr val="234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4367632" y="1463040"/>
            <a:ext cx="33192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Profile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4641952" y="2450592"/>
            <a:ext cx="29077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decade of civilian-platform conditioning (WhatsApp, Telegram, Facebook, and Instagram) rewards speed and openness. Compartmentalisation is a full reversal of habit.</a:t>
            </a:r>
            <a:r>
              <a:rPr lang="en-US" sz="2000" dirty="0" err="1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8171536" y="1371600"/>
            <a:ext cx="3456432" cy="3657600"/>
          </a:xfrm>
          <a:prstGeom prst="roundRect">
            <a:avLst>
              <a:gd name="adj" fmla="val 2381"/>
            </a:avLst>
          </a:prstGeom>
          <a:solidFill>
            <a:srgbClr val="EEF3EA"/>
          </a:solidFill>
          <a:ln w="12700">
            <a:solidFill>
              <a:srgbClr val="D3DED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171536" y="1371600"/>
            <a:ext cx="3456432" cy="868680"/>
          </a:xfrm>
          <a:prstGeom prst="roundRect">
            <a:avLst>
              <a:gd name="adj" fmla="val 9474"/>
            </a:avLst>
          </a:prstGeom>
          <a:solidFill>
            <a:srgbClr val="234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171536" y="1874520"/>
            <a:ext cx="3456432" cy="365760"/>
          </a:xfrm>
          <a:prstGeom prst="rect">
            <a:avLst/>
          </a:prstGeom>
          <a:solidFill>
            <a:srgbClr val="234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171536" y="1463040"/>
            <a:ext cx="33192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Compliance Trends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8445856" y="2450592"/>
            <a:ext cx="29077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lapses: 2FA disabled, official mail forwarded to personal accounts, geotagged cantonment photos, whiteboard screenshots, family-chat leaks.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563728" y="528523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63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563728" y="5285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element draws strength from the weakness of the other two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none can be corrected alone.</a:t>
            </a:r>
            <a:endParaRPr lang="en-US" sz="2000" dirty="0"/>
          </a:p>
        </p:txBody>
      </p:sp>
      <p:sp>
        <p:nvSpPr>
          <p:cNvPr id="3" name="Text 18">
            <a:extLst>
              <a:ext uri="{FF2B5EF4-FFF2-40B4-BE49-F238E27FC236}">
                <a16:creationId xmlns:a16="http://schemas.microsoft.com/office/drawing/2014/main" id="{FA977A1F-6AEE-5214-9CF7-5FBD0D27C73E}"/>
              </a:ext>
            </a:extLst>
          </p:cNvPr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cs typeface="Arial" pitchFamily="34" charset="-120"/>
              </a:rPr>
              <a:t>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90307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137392" y="384048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SYN-3</a:t>
            </a:r>
            <a:endParaRPr lang="en-US" sz="1100"/>
          </a:p>
        </p:txBody>
      </p:sp>
      <p:sp>
        <p:nvSpPr>
          <p:cNvPr id="5" name="Shape 2"/>
          <p:cNvSpPr/>
          <p:nvPr/>
        </p:nvSpPr>
        <p:spPr>
          <a:xfrm>
            <a:off x="868680" y="355600"/>
            <a:ext cx="10454335" cy="660400"/>
          </a:xfrm>
          <a:prstGeom prst="roundRect">
            <a:avLst>
              <a:gd name="adj" fmla="val 11290"/>
            </a:avLst>
          </a:prstGeom>
          <a:solidFill>
            <a:srgbClr val="234E33"/>
          </a:solidFill>
          <a:ln w="12700">
            <a:solidFill>
              <a:srgbClr val="C99A2E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0" y="355600"/>
            <a:ext cx="1219200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68680" y="1371600"/>
            <a:ext cx="10454335" cy="1005840"/>
          </a:xfrm>
          <a:prstGeom prst="roundRect">
            <a:avLst>
              <a:gd name="adj" fmla="val 7273"/>
            </a:avLst>
          </a:prstGeom>
          <a:solidFill>
            <a:srgbClr val="FCEFED"/>
          </a:solidFill>
          <a:ln w="12700">
            <a:solidFill>
              <a:srgbClr val="E0BD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011680" y="148132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A8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846320" y="1371600"/>
            <a:ext cx="62480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leakage &amp; operational exposure: roster screenshots, geotagged photos, and verbatim correspondence handed to collectors.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68680" y="2542032"/>
            <a:ext cx="10454335" cy="1005840"/>
          </a:xfrm>
          <a:prstGeom prst="roundRect">
            <a:avLst>
              <a:gd name="adj" fmla="val 7273"/>
            </a:avLst>
          </a:prstGeom>
          <a:solidFill>
            <a:srgbClr val="F7E6E3"/>
          </a:solidFill>
          <a:ln w="12700">
            <a:solidFill>
              <a:srgbClr val="E0BD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2011680" y="265176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A8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/ FORMATION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846320" y="2542032"/>
            <a:ext cx="62480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Misinformation, </a:t>
            </a:r>
            <a:r>
              <a:rPr lang="en-US" sz="2000" dirty="0" err="1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rumour</a:t>
            </a: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cohesion damage. Commanders begin to withhold planning detail from YOs known to mishandle information.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325880" y="35112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68680" y="3712464"/>
            <a:ext cx="10454335" cy="1005840"/>
          </a:xfrm>
          <a:prstGeom prst="roundRect">
            <a:avLst>
              <a:gd name="adj" fmla="val 7273"/>
            </a:avLst>
          </a:prstGeom>
          <a:solidFill>
            <a:srgbClr val="F2DCD8"/>
          </a:solidFill>
          <a:ln w="12700">
            <a:solidFill>
              <a:srgbClr val="E0BD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2011680" y="3822192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A83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4846320" y="3712464"/>
            <a:ext cx="62480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Erosion of battlefield advantage: loss of surprise and freedom of action; the force must assume its plans are already known.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868680" y="5285232"/>
            <a:ext cx="10454335" cy="640080"/>
          </a:xfrm>
          <a:prstGeom prst="roundRect">
            <a:avLst>
              <a:gd name="adj" fmla="val 11429"/>
            </a:avLst>
          </a:prstGeom>
          <a:solidFill>
            <a:srgbClr val="163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68680" y="5285232"/>
            <a:ext cx="104543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feeds the next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single tactical leak scales into measurable strategic cost.</a:t>
            </a:r>
            <a:endParaRPr lang="en-US" sz="2000" dirty="0"/>
          </a:p>
        </p:txBody>
      </p:sp>
      <p:sp>
        <p:nvSpPr>
          <p:cNvPr id="3" name="Text 18">
            <a:extLst>
              <a:ext uri="{FF2B5EF4-FFF2-40B4-BE49-F238E27FC236}">
                <a16:creationId xmlns:a16="http://schemas.microsoft.com/office/drawing/2014/main" id="{A0F68185-2285-691E-1218-E5137E9E9EEE}"/>
              </a:ext>
            </a:extLst>
          </p:cNvPr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cs typeface="Arial" pitchFamily="34" charset="-120"/>
              </a:rPr>
              <a:t>5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85849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137392" y="384048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SYN-3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0" y="355600"/>
            <a:ext cx="12192000" cy="660400"/>
          </a:xfrm>
          <a:prstGeom prst="roundRect">
            <a:avLst>
              <a:gd name="adj" fmla="val 11290"/>
            </a:avLst>
          </a:prstGeom>
          <a:solidFill>
            <a:srgbClr val="234E33"/>
          </a:solidFill>
          <a:ln w="12700">
            <a:solidFill>
              <a:srgbClr val="C99A2E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0" y="355600"/>
            <a:ext cx="1219200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FOR ENHANCING ISA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09448" y="13258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234E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404208" y="13258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B5852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198968" y="1325880"/>
            <a:ext cx="3724808" cy="2011680"/>
          </a:xfrm>
          <a:prstGeom prst="roundRect">
            <a:avLst>
              <a:gd name="adj" fmla="val 4545"/>
            </a:avLst>
          </a:prstGeom>
          <a:solidFill>
            <a:srgbClr val="2E6E7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09448" y="14080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5168" y="199222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Reform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92328" y="29900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A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 through repetition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321912" y="139416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2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4587088" y="1936093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&amp; Cultural Reform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4587088" y="29900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A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over instruction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8168335" y="139416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3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351215" y="1857243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Environment Reform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8412480" y="2850642"/>
            <a:ext cx="3383280" cy="330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A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becomes the default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2301088" y="3337560"/>
            <a:ext cx="2555719" cy="794030"/>
          </a:xfrm>
          <a:prstGeom prst="line">
            <a:avLst/>
          </a:prstGeom>
          <a:noFill/>
          <a:ln w="25400">
            <a:solidFill>
              <a:srgbClr val="3A6B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095848" y="3337560"/>
            <a:ext cx="0" cy="822960"/>
          </a:xfrm>
          <a:prstGeom prst="line">
            <a:avLst/>
          </a:prstGeom>
          <a:noFill/>
          <a:ln w="25400">
            <a:solidFill>
              <a:srgbClr val="3A6B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 flipH="1">
            <a:off x="7220560" y="3337560"/>
            <a:ext cx="2670048" cy="768096"/>
          </a:xfrm>
          <a:prstGeom prst="line">
            <a:avLst/>
          </a:prstGeom>
          <a:noFill/>
          <a:ln w="25400">
            <a:solidFill>
              <a:srgbClr val="3A6B4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3261208" y="4160520"/>
            <a:ext cx="5669280" cy="713232"/>
          </a:xfrm>
          <a:prstGeom prst="roundRect">
            <a:avLst>
              <a:gd name="adj" fmla="val 12821"/>
            </a:avLst>
          </a:prstGeom>
          <a:solidFill>
            <a:srgbClr val="16321F"/>
          </a:solidFill>
          <a:ln w="19050">
            <a:solidFill>
              <a:srgbClr val="C99A2E"/>
            </a:solidFill>
            <a:prstDash val="solid"/>
          </a:ln>
          <a:effectLst>
            <a:outerShdw blurRad="889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3261208" y="4160520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kern="0" spc="20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ORGANISATIONAL RESILIENCE</a:t>
            </a:r>
            <a:endParaRPr lang="en-US" sz="1900"/>
          </a:p>
        </p:txBody>
      </p:sp>
      <p:sp>
        <p:nvSpPr>
          <p:cNvPr id="30" name="Shape 24"/>
          <p:cNvSpPr/>
          <p:nvPr/>
        </p:nvSpPr>
        <p:spPr>
          <a:xfrm>
            <a:off x="284813" y="5138928"/>
            <a:ext cx="2894099" cy="660400"/>
          </a:xfrm>
          <a:prstGeom prst="roundRect">
            <a:avLst>
              <a:gd name="adj" fmla="val 50000"/>
            </a:avLst>
          </a:prstGeom>
          <a:solidFill>
            <a:srgbClr val="EEF3EA"/>
          </a:solidFill>
          <a:ln w="12700">
            <a:solidFill>
              <a:srgbClr val="3A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15088" y="5241129"/>
            <a:ext cx="3657600" cy="465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4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battlefield advantage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3343504" y="5138928"/>
            <a:ext cx="2670048" cy="566928"/>
          </a:xfrm>
          <a:prstGeom prst="roundRect">
            <a:avLst>
              <a:gd name="adj" fmla="val 50000"/>
            </a:avLst>
          </a:prstGeom>
          <a:solidFill>
            <a:srgbClr val="EEF3EA"/>
          </a:solidFill>
          <a:ln w="12700">
            <a:solidFill>
              <a:srgbClr val="3A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3434944" y="513892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4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efficiency</a:t>
            </a:r>
            <a:endParaRPr lang="en-US" sz="2000" dirty="0"/>
          </a:p>
        </p:txBody>
      </p:sp>
      <p:sp>
        <p:nvSpPr>
          <p:cNvPr id="34" name="Shape 28"/>
          <p:cNvSpPr/>
          <p:nvPr/>
        </p:nvSpPr>
        <p:spPr>
          <a:xfrm>
            <a:off x="6178144" y="5138928"/>
            <a:ext cx="2670048" cy="566928"/>
          </a:xfrm>
          <a:prstGeom prst="roundRect">
            <a:avLst>
              <a:gd name="adj" fmla="val 50000"/>
            </a:avLst>
          </a:prstGeom>
          <a:solidFill>
            <a:srgbClr val="EEF3EA"/>
          </a:solidFill>
          <a:ln w="12700">
            <a:solidFill>
              <a:srgbClr val="3A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6269584" y="513892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4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cohesion</a:t>
            </a:r>
            <a:endParaRPr lang="en-US" sz="2000" dirty="0"/>
          </a:p>
        </p:txBody>
      </p:sp>
      <p:sp>
        <p:nvSpPr>
          <p:cNvPr id="36" name="Shape 30"/>
          <p:cNvSpPr/>
          <p:nvPr/>
        </p:nvSpPr>
        <p:spPr>
          <a:xfrm>
            <a:off x="9012784" y="5138928"/>
            <a:ext cx="2670048" cy="566928"/>
          </a:xfrm>
          <a:prstGeom prst="roundRect">
            <a:avLst>
              <a:gd name="adj" fmla="val 50000"/>
            </a:avLst>
          </a:prstGeom>
          <a:solidFill>
            <a:srgbClr val="EEF3EA"/>
          </a:solidFill>
          <a:ln w="12700">
            <a:solidFill>
              <a:srgbClr val="3A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/>
          <p:nvPr/>
        </p:nvSpPr>
        <p:spPr>
          <a:xfrm>
            <a:off x="9104224" y="513892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4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exploitation risk</a:t>
            </a:r>
            <a:endParaRPr lang="en-US" sz="2000" dirty="0"/>
          </a:p>
        </p:txBody>
      </p:sp>
      <p:sp>
        <p:nvSpPr>
          <p:cNvPr id="3" name="Text 18">
            <a:extLst>
              <a:ext uri="{FF2B5EF4-FFF2-40B4-BE49-F238E27FC236}">
                <a16:creationId xmlns:a16="http://schemas.microsoft.com/office/drawing/2014/main" id="{9675F643-710E-3C6C-3C7B-5502081C8745}"/>
              </a:ext>
            </a:extLst>
          </p:cNvPr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cs typeface="Arial" pitchFamily="34" charset="-120"/>
              </a:rPr>
              <a:t>6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338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137392" y="384048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SYN-3</a:t>
            </a:r>
            <a:endParaRPr lang="en-US" sz="1100"/>
          </a:p>
        </p:txBody>
      </p:sp>
      <p:sp>
        <p:nvSpPr>
          <p:cNvPr id="5" name="Shape 2"/>
          <p:cNvSpPr/>
          <p:nvPr/>
        </p:nvSpPr>
        <p:spPr>
          <a:xfrm>
            <a:off x="359764" y="355600"/>
            <a:ext cx="11564012" cy="660400"/>
          </a:xfrm>
          <a:prstGeom prst="roundRect">
            <a:avLst>
              <a:gd name="adj" fmla="val 11290"/>
            </a:avLst>
          </a:prstGeom>
          <a:solidFill>
            <a:srgbClr val="234E33"/>
          </a:solidFill>
          <a:ln w="12700">
            <a:solidFill>
              <a:srgbClr val="C99A2E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0" y="355600"/>
            <a:ext cx="1219200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1 — TRAINING REFORM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1298448"/>
            <a:ext cx="10698480" cy="548640"/>
          </a:xfrm>
          <a:prstGeom prst="roundRect">
            <a:avLst>
              <a:gd name="adj" fmla="val 50000"/>
            </a:avLst>
          </a:prstGeom>
          <a:solidFill>
            <a:srgbClr val="234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2000" y="1298448"/>
            <a:ext cx="1048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theory with experiential, repetition-based training build procedural reflex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59764" y="2103119"/>
            <a:ext cx="7504076" cy="38479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the BMA pre-commissioning syllabus: scenario-based classification drills under simulated operational pressure</a:t>
            </a:r>
            <a:endParaRPr lang="en-US" sz="2000" dirty="0"/>
          </a:p>
          <a:p>
            <a:pPr marL="228600" indent="-2286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role-tailored ISA modules across career courses SI&amp;T, the corps schools, and DSCSC</a:t>
            </a:r>
            <a:endParaRPr lang="en-US" sz="2000" dirty="0"/>
          </a:p>
          <a:p>
            <a:pPr marL="228600" indent="-2286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annual marathon briefings with quarterly spaced-repetition modules that test application, not recall</a:t>
            </a:r>
            <a:endParaRPr lang="en-US" sz="2000" dirty="0"/>
          </a:p>
          <a:p>
            <a:pPr marL="228600" indent="-2286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an ISAEP (Information Security Awareness Enrichment </a:t>
            </a:r>
            <a:r>
              <a:rPr lang="en-US" sz="2000" dirty="0" err="1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</a:t>
            </a: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under the MI Directorate non-punitive and remedial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863840" y="2103120"/>
            <a:ext cx="4059936" cy="3063240"/>
          </a:xfrm>
          <a:prstGeom prst="roundRect">
            <a:avLst>
              <a:gd name="adj" fmla="val 2985"/>
            </a:avLst>
          </a:prstGeom>
          <a:solidFill>
            <a:srgbClr val="EEF3EA"/>
          </a:solidFill>
          <a:ln w="12700">
            <a:solidFill>
              <a:srgbClr val="D3DE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863840" y="22677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234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ISAEP LOOP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686800" y="2670048"/>
            <a:ext cx="1920240" cy="0"/>
          </a:xfrm>
          <a:prstGeom prst="line">
            <a:avLst/>
          </a:prstGeom>
          <a:noFill/>
          <a:ln w="12700">
            <a:solidFill>
              <a:srgbClr val="3A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ic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28986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77072" y="2834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under pressure</a:t>
            </a:r>
            <a:endParaRPr lang="en-US" sz="2000" dirty="0"/>
          </a:p>
        </p:txBody>
      </p:sp>
      <p:pic>
        <p:nvPicPr>
          <p:cNvPr id="15" name="Image 2" descr="ic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355701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77072" y="34930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application</a:t>
            </a:r>
            <a:endParaRPr lang="en-US" sz="2000" dirty="0"/>
          </a:p>
        </p:txBody>
      </p:sp>
      <p:pic>
        <p:nvPicPr>
          <p:cNvPr id="17" name="Image 3" descr="ic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421538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77072" y="4151376"/>
            <a:ext cx="3355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Reassess at 6 &amp; 12 months</a:t>
            </a:r>
            <a:endParaRPr lang="en-US" sz="2000" dirty="0"/>
          </a:p>
        </p:txBody>
      </p:sp>
      <p:sp>
        <p:nvSpPr>
          <p:cNvPr id="3" name="Text 18">
            <a:extLst>
              <a:ext uri="{FF2B5EF4-FFF2-40B4-BE49-F238E27FC236}">
                <a16:creationId xmlns:a16="http://schemas.microsoft.com/office/drawing/2014/main" id="{560A7A27-B878-A6D1-2FFE-9F6322C6B08E}"/>
              </a:ext>
            </a:extLst>
          </p:cNvPr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cs typeface="Arial" pitchFamily="34" charset="-120"/>
              </a:rPr>
              <a:t>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15010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137392" y="384048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SYN-3</a:t>
            </a:r>
            <a:endParaRPr lang="en-US" sz="1100"/>
          </a:p>
        </p:txBody>
      </p:sp>
      <p:sp>
        <p:nvSpPr>
          <p:cNvPr id="5" name="Shape 2"/>
          <p:cNvSpPr/>
          <p:nvPr/>
        </p:nvSpPr>
        <p:spPr>
          <a:xfrm>
            <a:off x="0" y="384048"/>
            <a:ext cx="12192000" cy="660400"/>
          </a:xfrm>
          <a:prstGeom prst="roundRect">
            <a:avLst>
              <a:gd name="adj" fmla="val 11290"/>
            </a:avLst>
          </a:prstGeom>
          <a:solidFill>
            <a:srgbClr val="234E33"/>
          </a:solidFill>
          <a:ln w="12700">
            <a:solidFill>
              <a:srgbClr val="C99A2E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0" y="355600"/>
            <a:ext cx="1219200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2 — PSYCHOLOGICAL &amp; CULTURAL REFORM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23748" y="132588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FBF3E2"/>
          </a:solidFill>
          <a:ln w="12700">
            <a:solidFill>
              <a:srgbClr val="E4D2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472788" y="132588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FBF3E2"/>
          </a:solidFill>
          <a:ln w="12700">
            <a:solidFill>
              <a:srgbClr val="E4D2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21828" y="132588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FBF3E2"/>
          </a:solidFill>
          <a:ln w="12700">
            <a:solidFill>
              <a:srgbClr val="E4D2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272388" y="1581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Self-awareness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272388" y="20391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your own digital footprint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015588" y="1325880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B58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/>
          </a:p>
        </p:txBody>
      </p:sp>
      <p:pic>
        <p:nvPicPr>
          <p:cNvPr id="16" name="Image 2" descr="ic_secr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12" y="188366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92828" y="158191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Threat recognition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4884268" y="20391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through an adversary’s eyes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764628" y="1325880"/>
            <a:ext cx="502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B58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/>
          </a:p>
        </p:txBody>
      </p:sp>
      <p:sp>
        <p:nvSpPr>
          <p:cNvPr id="22" name="Text 16"/>
          <p:cNvSpPr/>
          <p:nvPr/>
        </p:nvSpPr>
        <p:spPr>
          <a:xfrm>
            <a:off x="8313268" y="1762693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Disciplined response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8336128" y="2254521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before reacting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777240" y="3063240"/>
            <a:ext cx="1060704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bi-annual phishing &amp; social-engineering exercises at unit level under Formation HQ supervision.</a:t>
            </a:r>
            <a:endParaRPr lang="en-US" sz="2000" dirty="0"/>
          </a:p>
          <a:p>
            <a:pPr marL="228600" indent="-228600" algn="just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principle: surface lessons, not embarrass individuals — private debrief, re-test, results held in confidence.</a:t>
            </a:r>
            <a:endParaRPr lang="en-US" sz="2000" dirty="0"/>
          </a:p>
          <a:p>
            <a:pPr marL="228600" indent="-228600" algn="just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</a:t>
            </a:r>
            <a:r>
              <a:rPr lang="en-US" sz="2000" dirty="0" err="1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compartmentalisation</a:t>
            </a:r>
            <a:r>
              <a:rPr lang="en-US" sz="20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becomes an instinctive professional reflex, not a remembered instruction.</a:t>
            </a:r>
            <a:endParaRPr lang="en-US" sz="2000" dirty="0"/>
          </a:p>
        </p:txBody>
      </p:sp>
      <p:sp>
        <p:nvSpPr>
          <p:cNvPr id="3" name="Text 18">
            <a:extLst>
              <a:ext uri="{FF2B5EF4-FFF2-40B4-BE49-F238E27FC236}">
                <a16:creationId xmlns:a16="http://schemas.microsoft.com/office/drawing/2014/main" id="{7EF5290E-60F3-1B33-26F7-17F3062DB5D8}"/>
              </a:ext>
            </a:extLst>
          </p:cNvPr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cs typeface="Arial" pitchFamily="34" charset="-120"/>
              </a:rPr>
              <a:t>8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88731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0" y="355600"/>
            <a:ext cx="12192000" cy="660400"/>
          </a:xfrm>
          <a:prstGeom prst="roundRect">
            <a:avLst>
              <a:gd name="adj" fmla="val 11290"/>
            </a:avLst>
          </a:prstGeom>
          <a:solidFill>
            <a:srgbClr val="234E33"/>
          </a:solidFill>
          <a:ln w="12700">
            <a:solidFill>
              <a:srgbClr val="C99A2E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  <a:r>
              <a:t>SYN-3</a:t>
            </a:r>
          </a:p>
        </p:txBody>
      </p:sp>
      <p:sp>
        <p:nvSpPr>
          <p:cNvPr id="6" name="Text 3"/>
          <p:cNvSpPr/>
          <p:nvPr/>
        </p:nvSpPr>
        <p:spPr>
          <a:xfrm>
            <a:off x="0" y="355600"/>
            <a:ext cx="1219200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3 — COMMUNICATION ENVIRONMENT REFORM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1298448"/>
            <a:ext cx="10698480" cy="548640"/>
          </a:xfrm>
          <a:prstGeom prst="roundRect">
            <a:avLst>
              <a:gd name="adj" fmla="val 50000"/>
            </a:avLst>
          </a:prstGeom>
          <a:solidFill>
            <a:srgbClr val="2E6E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12984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platforms must become the natural default not the cumbersome alternative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103119"/>
            <a:ext cx="10515600" cy="33192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24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Directorate to develop and field an integrated official suite: messaging, file-sharing, voice, and calendar on managed devices.</a:t>
            </a:r>
            <a:endParaRPr lang="en-US" sz="2400" dirty="0"/>
          </a:p>
          <a:p>
            <a:pPr marL="228600" indent="-228600" algn="just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24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MDM (Mobile Device Management) and DLP (Data Loss Prevention) controls in structured phases after a security &amp; cost review.</a:t>
            </a:r>
            <a:endParaRPr lang="en-US" sz="2400" dirty="0"/>
          </a:p>
          <a:p>
            <a:pPr marL="228600" indent="-228600" algn="just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2400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successive controls once the baseline is stable: sensitive-keyword blocking, screenshot prevention, and forwarding controls.</a:t>
            </a:r>
            <a:endParaRPr lang="en-US" sz="2400" dirty="0"/>
          </a:p>
        </p:txBody>
      </p:sp>
      <p:sp>
        <p:nvSpPr>
          <p:cNvPr id="3" name="Text 18">
            <a:extLst>
              <a:ext uri="{FF2B5EF4-FFF2-40B4-BE49-F238E27FC236}">
                <a16:creationId xmlns:a16="http://schemas.microsoft.com/office/drawing/2014/main" id="{ADC3A6D8-46A7-EFC1-6A05-E3481BCFB230}"/>
              </a:ext>
            </a:extLst>
          </p:cNvPr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cs typeface="Arial" pitchFamily="34" charset="-120"/>
              </a:rPr>
              <a:t>9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9738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137392" y="384048"/>
            <a:ext cx="786384" cy="475488"/>
          </a:xfrm>
          <a:prstGeom prst="ellipse">
            <a:avLst/>
          </a:prstGeom>
          <a:solidFill>
            <a:srgbClr val="234E33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355600"/>
            <a:ext cx="12192000" cy="660400"/>
          </a:xfrm>
          <a:prstGeom prst="roundRect">
            <a:avLst>
              <a:gd name="adj" fmla="val 11290"/>
            </a:avLst>
          </a:prstGeom>
          <a:solidFill>
            <a:srgbClr val="234E33"/>
          </a:solidFill>
          <a:ln w="12700">
            <a:solidFill>
              <a:srgbClr val="C99A2E"/>
            </a:solidFill>
            <a:prstDash val="solid"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  <a:r>
              <a:t>SYN-3</a:t>
            </a:r>
          </a:p>
        </p:txBody>
      </p:sp>
      <p:sp>
        <p:nvSpPr>
          <p:cNvPr id="6" name="Text 3"/>
          <p:cNvSpPr/>
          <p:nvPr/>
        </p:nvSpPr>
        <p:spPr>
          <a:xfrm>
            <a:off x="0" y="355600"/>
            <a:ext cx="1219200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PATHWAYS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63728" y="1371600"/>
            <a:ext cx="3456432" cy="3246120"/>
          </a:xfrm>
          <a:prstGeom prst="roundRect">
            <a:avLst>
              <a:gd name="adj" fmla="val 2535"/>
            </a:avLst>
          </a:prstGeom>
          <a:solidFill>
            <a:srgbClr val="EEF3EA"/>
          </a:solidFill>
          <a:ln w="12700">
            <a:solidFill>
              <a:srgbClr val="D3DED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07696" y="1371600"/>
            <a:ext cx="3712464" cy="932688"/>
          </a:xfrm>
          <a:prstGeom prst="roundRect">
            <a:avLst>
              <a:gd name="adj" fmla="val 8824"/>
            </a:avLst>
          </a:prstGeom>
          <a:solidFill>
            <a:srgbClr val="234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3728" y="1920240"/>
            <a:ext cx="3456432" cy="384048"/>
          </a:xfrm>
          <a:prstGeom prst="rect">
            <a:avLst/>
          </a:prstGeom>
          <a:solidFill>
            <a:srgbClr val="234E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432408" y="1517904"/>
            <a:ext cx="2496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1500"/>
          </a:p>
        </p:txBody>
      </p:sp>
      <p:sp>
        <p:nvSpPr>
          <p:cNvPr id="12" name="Text 8"/>
          <p:cNvSpPr/>
          <p:nvPr/>
        </p:nvSpPr>
        <p:spPr>
          <a:xfrm>
            <a:off x="1432408" y="1883664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A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months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16256" y="2468880"/>
            <a:ext cx="371246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just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 err="1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</a:t>
            </a:r>
            <a:r>
              <a:rPr lang="en-US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six-month pilot of the Stream 1 quarterly modules in two representative formations.</a:t>
            </a:r>
            <a:endParaRPr lang="en-US" dirty="0"/>
          </a:p>
          <a:p>
            <a:pPr marL="177800" indent="-177800" algn="just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&amp; endline assessment using a HAIS-Q-adapted instrument.</a:t>
            </a:r>
            <a:endParaRPr lang="en-US" dirty="0"/>
          </a:p>
          <a:p>
            <a:pPr marL="177800" indent="-177800" algn="just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Signal Directorate to scope the Stream 3 secure-platform suite in parallel.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4367632" y="1371600"/>
            <a:ext cx="3456432" cy="3246120"/>
          </a:xfrm>
          <a:prstGeom prst="roundRect">
            <a:avLst>
              <a:gd name="adj" fmla="val 2535"/>
            </a:avLst>
          </a:prstGeom>
          <a:solidFill>
            <a:srgbClr val="EEF3EA"/>
          </a:solidFill>
          <a:ln w="12700">
            <a:solidFill>
              <a:srgbClr val="D3DED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367632" y="1371600"/>
            <a:ext cx="3456432" cy="932688"/>
          </a:xfrm>
          <a:prstGeom prst="roundRect">
            <a:avLst>
              <a:gd name="adj" fmla="val 8824"/>
            </a:avLst>
          </a:prstGeom>
          <a:solidFill>
            <a:srgbClr val="3A6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367632" y="1920240"/>
            <a:ext cx="3456432" cy="384048"/>
          </a:xfrm>
          <a:prstGeom prst="rect">
            <a:avLst/>
          </a:prstGeom>
          <a:solidFill>
            <a:srgbClr val="3A6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236312" y="1517904"/>
            <a:ext cx="2496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</a:t>
            </a:r>
            <a:endParaRPr lang="en-US" sz="1500"/>
          </a:p>
        </p:txBody>
      </p:sp>
      <p:sp>
        <p:nvSpPr>
          <p:cNvPr id="19" name="Text 14"/>
          <p:cNvSpPr/>
          <p:nvPr/>
        </p:nvSpPr>
        <p:spPr>
          <a:xfrm>
            <a:off x="5236312" y="1883664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A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months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4367632" y="2468880"/>
            <a:ext cx="3364992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 small ISA Cell at AHQ under the Chief of Staff.</a:t>
            </a:r>
            <a:endParaRPr lang="en-US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phishing-exercise data into formation readiness reporting.</a:t>
            </a: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8171536" y="1371600"/>
            <a:ext cx="3456432" cy="3246120"/>
          </a:xfrm>
          <a:prstGeom prst="roundRect">
            <a:avLst>
              <a:gd name="adj" fmla="val 2535"/>
            </a:avLst>
          </a:prstGeom>
          <a:solidFill>
            <a:srgbClr val="EEF3EA"/>
          </a:solidFill>
          <a:ln w="12700">
            <a:solidFill>
              <a:srgbClr val="D3DED0"/>
            </a:solidFill>
            <a:prstDash val="solid"/>
          </a:ln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171536" y="1371600"/>
            <a:ext cx="3456432" cy="932688"/>
          </a:xfrm>
          <a:prstGeom prst="roundRect">
            <a:avLst>
              <a:gd name="adj" fmla="val 8824"/>
            </a:avLst>
          </a:prstGeom>
          <a:solidFill>
            <a:srgbClr val="2E6E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171536" y="1920240"/>
            <a:ext cx="3456432" cy="384048"/>
          </a:xfrm>
          <a:prstGeom prst="rect">
            <a:avLst/>
          </a:prstGeom>
          <a:solidFill>
            <a:srgbClr val="2E6E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9040216" y="1517904"/>
            <a:ext cx="2496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</a:t>
            </a:r>
            <a:endParaRPr lang="en-US" sz="1500"/>
          </a:p>
        </p:txBody>
      </p:sp>
      <p:sp>
        <p:nvSpPr>
          <p:cNvPr id="26" name="Text 20"/>
          <p:cNvSpPr/>
          <p:nvPr/>
        </p:nvSpPr>
        <p:spPr>
          <a:xfrm>
            <a:off x="9040216" y="1883664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A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8171536" y="2468880"/>
            <a:ext cx="34497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ISA as a warfighting subject, not administrative compliance.</a:t>
            </a:r>
            <a:endParaRPr lang="en-US" dirty="0"/>
          </a:p>
          <a:p>
            <a:pPr marL="177800" indent="-1778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0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signals sustained attention, institutional posture follows emphasis.</a:t>
            </a:r>
            <a:endParaRPr lang="en-US" dirty="0"/>
          </a:p>
        </p:txBody>
      </p:sp>
      <p:sp>
        <p:nvSpPr>
          <p:cNvPr id="4" name="Text 18">
            <a:extLst>
              <a:ext uri="{FF2B5EF4-FFF2-40B4-BE49-F238E27FC236}">
                <a16:creationId xmlns:a16="http://schemas.microsoft.com/office/drawing/2014/main" id="{7EC684AE-2049-BD55-2E98-671C84F5BF56}"/>
              </a:ext>
            </a:extLst>
          </p:cNvPr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cs typeface="Arial" pitchFamily="34" charset="-120"/>
              </a:rPr>
              <a:t>10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00878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1137392" y="384048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SYN-3</a:t>
            </a:r>
            <a:endParaRPr lang="en-US" sz="1100"/>
          </a:p>
        </p:txBody>
      </p:sp>
      <p:sp>
        <p:nvSpPr>
          <p:cNvPr id="6" name="Shape 3"/>
          <p:cNvSpPr/>
          <p:nvPr/>
        </p:nvSpPr>
        <p:spPr>
          <a:xfrm>
            <a:off x="0" y="355600"/>
            <a:ext cx="12192000" cy="660400"/>
          </a:xfrm>
          <a:prstGeom prst="roundRect">
            <a:avLst>
              <a:gd name="adj" fmla="val 11290"/>
            </a:avLst>
          </a:prstGeom>
          <a:solidFill>
            <a:srgbClr val="3A6B47"/>
          </a:solidFill>
          <a:ln w="12700">
            <a:solidFill>
              <a:srgbClr val="C99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3305" y="355600"/>
            <a:ext cx="9905390" cy="66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rgbClr val="E8C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005840" y="1965960"/>
            <a:ext cx="10180015" cy="749808"/>
          </a:xfrm>
          <a:prstGeom prst="roundRect">
            <a:avLst>
              <a:gd name="adj" fmla="val 9756"/>
            </a:avLst>
          </a:prstGeom>
          <a:solidFill>
            <a:srgbClr val="1E4029"/>
          </a:solidFill>
          <a:ln w="12700">
            <a:solidFill>
              <a:srgbClr val="3A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874520" y="1965960"/>
            <a:ext cx="91741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EA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Present-state inadequacy is structural — training architecture, digital </a:t>
            </a:r>
            <a:r>
              <a:rPr lang="en-US" sz="2000" dirty="0" err="1">
                <a:solidFill>
                  <a:srgbClr val="EA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r>
              <a:rPr lang="en-US" sz="2000" dirty="0">
                <a:solidFill>
                  <a:srgbClr val="EA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compliance trends together.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005840" y="2816352"/>
            <a:ext cx="10180015" cy="749808"/>
          </a:xfrm>
          <a:prstGeom prst="roundRect">
            <a:avLst>
              <a:gd name="adj" fmla="val 9756"/>
            </a:avLst>
          </a:prstGeom>
          <a:solidFill>
            <a:srgbClr val="1E4029"/>
          </a:solidFill>
          <a:ln w="12700">
            <a:solidFill>
              <a:srgbClr val="3A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34440" y="29809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874520" y="2816352"/>
            <a:ext cx="91741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EA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Consequences scale from a tactical leak to the strategic loss of battlefield advantage — cumulative and hard to reverse.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005840" y="3666744"/>
            <a:ext cx="10180015" cy="749808"/>
          </a:xfrm>
          <a:prstGeom prst="roundRect">
            <a:avLst>
              <a:gd name="adj" fmla="val 9756"/>
            </a:avLst>
          </a:prstGeom>
          <a:solidFill>
            <a:srgbClr val="1E4029"/>
          </a:solidFill>
          <a:ln w="12700">
            <a:solidFill>
              <a:srgbClr val="3A6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234440" y="38313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874520" y="3666744"/>
            <a:ext cx="91741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EA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joined-up three-stream framework offers a credible, resource-modest answer that builds on existing institutions.</a:t>
            </a:r>
            <a:endParaRPr lang="en-US" sz="2000" dirty="0"/>
          </a:p>
        </p:txBody>
      </p:sp>
      <p:sp>
        <p:nvSpPr>
          <p:cNvPr id="4" name="Text 18">
            <a:extLst>
              <a:ext uri="{FF2B5EF4-FFF2-40B4-BE49-F238E27FC236}">
                <a16:creationId xmlns:a16="http://schemas.microsoft.com/office/drawing/2014/main" id="{BC57516D-E059-F7AB-45A4-4D4D08C7E620}"/>
              </a:ext>
            </a:extLst>
          </p:cNvPr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cs typeface="Arial" pitchFamily="34" charset="-120"/>
              </a:rPr>
              <a:t>11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11931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305" y="306324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200" dirty="0"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9F82CAB1-9488-5EBE-4D4D-A3C6DEFC0F29}"/>
              </a:ext>
            </a:extLst>
          </p:cNvPr>
          <p:cNvSpPr/>
          <p:nvPr/>
        </p:nvSpPr>
        <p:spPr>
          <a:xfrm>
            <a:off x="1143000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37392" y="384048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SYN-3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Relationship Id="rId3" Type="http://schemas.microsoft.com/office/2011/relationships/webextension" Target="webextension3.xml"/><Relationship Id="rId4" Type="http://schemas.microsoft.com/office/2011/relationships/webextension" Target="webextension4.xml"/><Relationship Id="rId5" Type="http://schemas.microsoft.com/office/2011/relationships/webextension" Target="webextension5.xml"/><Relationship Id="rId6" Type="http://schemas.microsoft.com/office/2011/relationships/webextension" Target="webextension6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3">
    <wetp:webextensionref xmlns:r="http://schemas.openxmlformats.org/officeDocument/2006/relationships" r:id="rId3"/>
  </wetp:taskpane>
  <wetp:taskpane dockstate="right" visibility="0" width="350" row="4">
    <wetp:webextensionref xmlns:r="http://schemas.openxmlformats.org/officeDocument/2006/relationships" r:id="rId4"/>
  </wetp:taskpane>
  <wetp:taskpane dockstate="right" visibility="0" width="350" row="1">
    <wetp:webextensionref xmlns:r="http://schemas.openxmlformats.org/officeDocument/2006/relationships" r:id="rId5"/>
  </wetp:taskpane>
  <wetp:taskpane dockstate="right" visibility="0" width="350" row="3">
    <wetp:webextensionref xmlns:r="http://schemas.openxmlformats.org/officeDocument/2006/relationships" r:id="rId6"/>
  </wetp:taskpane>
</wetp:taskpanes>
</file>

<file path=ppt/webextensions/webextension1.xml><?xml version="1.0" encoding="utf-8"?>
<we:webextension xmlns:we="http://schemas.microsoft.com/office/webextensions/webextension/2010/11" id="{B48AE351-2A92-4478-BECB-51FE42C43DED}">
  <we:reference id="wa200007130" version="1.0.0.1" store="en-US" storeType="omex"/>
  <we:alternateReferences>
    <we:reference id="wa200007130" version="1.0.0.1" store="omex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E8358D1-3B90-450F-8B91-111FCBE58FFB}">
  <we:reference id="wa200010725" version="1.0.0.1" store="en-GB" storeType="OMEX"/>
  <we:alternateReferences>
    <we:reference id="wa200010725" version="1.0.0.1" store="wa200010725" storeType="OMEX"/>
  </we:alternateReferences>
  <we:properties>
    <we:property name="claude.fileId" value="&quot;d41a6af8-d4c6-4824-8891-a9ce9b0d180b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49440BA7-6FFE-40CF-97F9-98E958C3F0F9}">
  <we:reference id="wa200000113" version="1.0.0.0" store="en-GB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CF852960-9B28-4128-9F13-B5D9AA85DC1A}">
  <we:reference id="wa104178141" version="4.3.3.0" store="en-GB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58DF92AB-CD13-4732-A51E-D58FCC10C235}">
  <we:reference id="wa200010001" version="1.0.0.1" store="en-GB" storeType="OMEX"/>
  <we:alternateReferences>
    <we:reference id="WA200010001" version="1.0.0.1" store="" storeType="OMEX"/>
  </we:alternateReferences>
  <we:properties>
    <we:property name="claude.fileId" value="&quot;a08fa700-dbe6-42ee-982f-6da4f8798a9c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62591077-5428-4070-8DF1-9A3264C8F911}">
  <we:reference id="wa200005107" version="1.1.0.0" store="en-GB" storeType="OMEX"/>
  <we:alternateReferences>
    <we:reference id="WA200005107" version="1.1.0.0" store="WA2000051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896</Words>
  <Application>Microsoft Office PowerPoint</Application>
  <PresentationFormat>Widescreen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Enhancement of ISA among Young Officers of Bangladesh Army</dc:title>
  <dc:subject>PptxGenJS Presentation</dc:subject>
  <dc:creator>Maj MD Tahminul Islam</dc:creator>
  <cp:lastModifiedBy>Tahmin Rimon</cp:lastModifiedBy>
  <cp:revision>33</cp:revision>
  <dcterms:created xsi:type="dcterms:W3CDTF">2026-06-20T18:49:59Z</dcterms:created>
  <dcterms:modified xsi:type="dcterms:W3CDTF">2026-06-21T05:39:40Z</dcterms:modified>
</cp:coreProperties>
</file>